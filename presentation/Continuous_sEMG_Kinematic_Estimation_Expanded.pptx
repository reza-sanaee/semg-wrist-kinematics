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af793f1423484b" /><Relationship Type="http://schemas.openxmlformats.org/officeDocument/2006/relationships/extended-properties" Target="/docProps/app.xml" Id="R204e942143c84643" /><Relationship Type="http://schemas.openxmlformats.org/officeDocument/2006/relationships/officeDocument" Target="/ppt/presentation.xml" Id="Rf910dcd8ec4f47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3903b020644efb"/>
  </p:sldMasterIdLst>
  <p:notesMasterIdLst>
    <p:notesMasterId xmlns:r="http://schemas.openxmlformats.org/officeDocument/2006/relationships" r:id="R6c555f4c9df94f3f"/>
  </p:notesMasterIdLst>
  <p:sldIdLst>
    <p:sldId xmlns:r="http://schemas.openxmlformats.org/officeDocument/2006/relationships" id="256" r:id="R45fc1c4de77e4f47"/>
    <p:sldId xmlns:r="http://schemas.openxmlformats.org/officeDocument/2006/relationships" id="257" r:id="R023686dea6cc4535"/>
    <p:sldId xmlns:r="http://schemas.openxmlformats.org/officeDocument/2006/relationships" id="258" r:id="Ra15d4422ed444910"/>
    <p:sldId xmlns:r="http://schemas.openxmlformats.org/officeDocument/2006/relationships" id="259" r:id="Rd851d8626f8d454b"/>
    <p:sldId xmlns:r="http://schemas.openxmlformats.org/officeDocument/2006/relationships" id="260" r:id="R90f9c494289e47ce"/>
    <p:sldId xmlns:r="http://schemas.openxmlformats.org/officeDocument/2006/relationships" id="261" r:id="R8030fa66190b4df6"/>
    <p:sldId xmlns:r="http://schemas.openxmlformats.org/officeDocument/2006/relationships" id="262" r:id="R637e87086e7d44e5"/>
    <p:sldId xmlns:r="http://schemas.openxmlformats.org/officeDocument/2006/relationships" id="263" r:id="R7b2460eef4f94882"/>
    <p:sldId xmlns:r="http://schemas.openxmlformats.org/officeDocument/2006/relationships" id="264" r:id="Rd29f428c7ec74494"/>
    <p:sldId xmlns:r="http://schemas.openxmlformats.org/officeDocument/2006/relationships" id="265" r:id="R3efd3d53b0a140ce"/>
    <p:sldId xmlns:r="http://schemas.openxmlformats.org/officeDocument/2006/relationships" id="266" r:id="Re8e5a24271624b2f"/>
    <p:sldId xmlns:r="http://schemas.openxmlformats.org/officeDocument/2006/relationships" id="267" r:id="R5f7470e5de65490a"/>
    <p:sldId xmlns:r="http://schemas.openxmlformats.org/officeDocument/2006/relationships" id="268" r:id="Rb571ed18eb33452e"/>
    <p:sldId xmlns:r="http://schemas.openxmlformats.org/officeDocument/2006/relationships" id="269" r:id="R3408114796ec4b20"/>
    <p:sldId xmlns:r="http://schemas.openxmlformats.org/officeDocument/2006/relationships" id="270" r:id="R35780672f1e140f5"/>
    <p:sldId xmlns:r="http://schemas.openxmlformats.org/officeDocument/2006/relationships" id="271" r:id="Rba777c97b8d74579"/>
    <p:sldId xmlns:r="http://schemas.openxmlformats.org/officeDocument/2006/relationships" id="272" r:id="R7cb2382a47b34a7d"/>
    <p:sldId xmlns:r="http://schemas.openxmlformats.org/officeDocument/2006/relationships" id="273" r:id="R79ba3c27b8854bce"/>
    <p:sldId xmlns:r="http://schemas.openxmlformats.org/officeDocument/2006/relationships" id="274" r:id="R420ecb904ce04048"/>
    <p:sldId xmlns:r="http://schemas.openxmlformats.org/officeDocument/2006/relationships" id="275" r:id="R0894638326b24e5f"/>
    <p:sldId xmlns:r="http://schemas.openxmlformats.org/officeDocument/2006/relationships" id="276" r:id="R6da294bc0de7429a"/>
    <p:sldId xmlns:r="http://schemas.openxmlformats.org/officeDocument/2006/relationships" id="277" r:id="R07d406f9acf84a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d625829e734724" /><Relationship Type="http://schemas.openxmlformats.org/officeDocument/2006/relationships/slideMaster" Target="/ppt/slideMasters/slideMaster1.xml" Id="R8b3903b020644efb" /><Relationship Type="http://schemas.openxmlformats.org/officeDocument/2006/relationships/notesMaster" Target="/ppt/notesMasters/notesMaster1.xml" Id="R6c555f4c9df94f3f" /><Relationship Type="http://schemas.openxmlformats.org/officeDocument/2006/relationships/presProps" Target="/ppt/presProps.xml" Id="R19e89e636bdb48f1" /><Relationship Type="http://schemas.openxmlformats.org/officeDocument/2006/relationships/tableStyles" Target="/ppt/tableStyles.xml" Id="Rd637ce674d414897" /><Relationship Type="http://schemas.openxmlformats.org/officeDocument/2006/relationships/slide" Target="/ppt/slides/slide1.xml" Id="R45fc1c4de77e4f47" /><Relationship Type="http://schemas.openxmlformats.org/officeDocument/2006/relationships/slide" Target="/ppt/slides/slide2.xml" Id="R023686dea6cc4535" /><Relationship Type="http://schemas.openxmlformats.org/officeDocument/2006/relationships/slide" Target="/ppt/slides/slide3.xml" Id="Ra15d4422ed444910" /><Relationship Type="http://schemas.openxmlformats.org/officeDocument/2006/relationships/slide" Target="/ppt/slides/slide4.xml" Id="Rd851d8626f8d454b" /><Relationship Type="http://schemas.openxmlformats.org/officeDocument/2006/relationships/slide" Target="/ppt/slides/slide5.xml" Id="R90f9c494289e47ce" /><Relationship Type="http://schemas.openxmlformats.org/officeDocument/2006/relationships/slide" Target="/ppt/slides/slide6.xml" Id="R8030fa66190b4df6" /><Relationship Type="http://schemas.openxmlformats.org/officeDocument/2006/relationships/slide" Target="/ppt/slides/slide7.xml" Id="R637e87086e7d44e5" /><Relationship Type="http://schemas.openxmlformats.org/officeDocument/2006/relationships/slide" Target="/ppt/slides/slide8.xml" Id="R7b2460eef4f94882" /><Relationship Type="http://schemas.openxmlformats.org/officeDocument/2006/relationships/slide" Target="/ppt/slides/slide9.xml" Id="Rd29f428c7ec74494" /><Relationship Type="http://schemas.openxmlformats.org/officeDocument/2006/relationships/slide" Target="/ppt/slides/slide10.xml" Id="R3efd3d53b0a140ce" /><Relationship Type="http://schemas.openxmlformats.org/officeDocument/2006/relationships/slide" Target="/ppt/slides/slide11.xml" Id="Re8e5a24271624b2f" /><Relationship Type="http://schemas.openxmlformats.org/officeDocument/2006/relationships/slide" Target="/ppt/slides/slide12.xml" Id="R5f7470e5de65490a" /><Relationship Type="http://schemas.openxmlformats.org/officeDocument/2006/relationships/slide" Target="/ppt/slides/slide13.xml" Id="Rb571ed18eb33452e" /><Relationship Type="http://schemas.openxmlformats.org/officeDocument/2006/relationships/slide" Target="/ppt/slides/slide14.xml" Id="R3408114796ec4b20" /><Relationship Type="http://schemas.openxmlformats.org/officeDocument/2006/relationships/slide" Target="/ppt/slides/slide15.xml" Id="R35780672f1e140f5" /><Relationship Type="http://schemas.openxmlformats.org/officeDocument/2006/relationships/slide" Target="/ppt/slides/slide16.xml" Id="Rba777c97b8d74579" /><Relationship Type="http://schemas.openxmlformats.org/officeDocument/2006/relationships/slide" Target="/ppt/slides/slide17.xml" Id="R7cb2382a47b34a7d" /><Relationship Type="http://schemas.openxmlformats.org/officeDocument/2006/relationships/slide" Target="/ppt/slides/slide18.xml" Id="R79ba3c27b8854bce" /><Relationship Type="http://schemas.openxmlformats.org/officeDocument/2006/relationships/slide" Target="/ppt/slides/slide19.xml" Id="R420ecb904ce04048" /><Relationship Type="http://schemas.openxmlformats.org/officeDocument/2006/relationships/slide" Target="/ppt/slides/slide20.xml" Id="R0894638326b24e5f" /><Relationship Type="http://schemas.openxmlformats.org/officeDocument/2006/relationships/slide" Target="/ppt/slides/slide21.xml" Id="R6da294bc0de7429a" /><Relationship Type="http://schemas.openxmlformats.org/officeDocument/2006/relationships/slide" Target="/ppt/slides/slide22.xml" Id="R07d406f9acf84a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fcc513932044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70589837db45b9" /><Relationship Type="http://schemas.openxmlformats.org/officeDocument/2006/relationships/notesMaster" Target="/ppt/notesMasters/notesMaster1.xml" Id="R1e41e9a883e748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7f6dfdd0894fdb" /><Relationship Type="http://schemas.openxmlformats.org/officeDocument/2006/relationships/notesMaster" Target="/ppt/notesMasters/notesMaster1.xml" Id="Rdd7625e43b9746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63875a6ddd4f6a" /><Relationship Type="http://schemas.openxmlformats.org/officeDocument/2006/relationships/notesMaster" Target="/ppt/notesMasters/notesMaster1.xml" Id="R5ae1c4ce243641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a2b7522093431d" /><Relationship Type="http://schemas.openxmlformats.org/officeDocument/2006/relationships/notesMaster" Target="/ppt/notesMasters/notesMaster1.xml" Id="R4c0cef3a6f7946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51ef970e084393" /><Relationship Type="http://schemas.openxmlformats.org/officeDocument/2006/relationships/notesMaster" Target="/ppt/notesMasters/notesMaster1.xml" Id="R584e18913a754c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6a28708d7740c0" /><Relationship Type="http://schemas.openxmlformats.org/officeDocument/2006/relationships/notesMaster" Target="/ppt/notesMasters/notesMaster1.xml" Id="Rd1100ea8262248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f45672c6ee45a6" /><Relationship Type="http://schemas.openxmlformats.org/officeDocument/2006/relationships/notesMaster" Target="/ppt/notesMasters/notesMaster1.xml" Id="R603e1c8962e14f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ad8fd568074018" /><Relationship Type="http://schemas.openxmlformats.org/officeDocument/2006/relationships/notesMaster" Target="/ppt/notesMasters/notesMaster1.xml" Id="Rf27a21534a4440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032a2ccff09467a" /><Relationship Type="http://schemas.openxmlformats.org/officeDocument/2006/relationships/notesMaster" Target="/ppt/notesMasters/notesMaster1.xml" Id="R397304a708cd4d9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3224579bf25487a" /><Relationship Type="http://schemas.openxmlformats.org/officeDocument/2006/relationships/notesMaster" Target="/ppt/notesMasters/notesMaster1.xml" Id="R6440392a5b4046b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556cbe87f4b4fb3" /><Relationship Type="http://schemas.openxmlformats.org/officeDocument/2006/relationships/notesMaster" Target="/ppt/notesMasters/notesMaster1.xml" Id="R10328e3ce2934a6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b42c1b960cb4c47" /><Relationship Type="http://schemas.openxmlformats.org/officeDocument/2006/relationships/notesMaster" Target="/ppt/notesMasters/notesMaster1.xml" Id="R175886b27b47401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21a8e453d8b48e9" /><Relationship Type="http://schemas.openxmlformats.org/officeDocument/2006/relationships/notesMaster" Target="/ppt/notesMasters/notesMaster1.xml" Id="R15e728bfa832428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ceb187c6f564081" /><Relationship Type="http://schemas.openxmlformats.org/officeDocument/2006/relationships/notesMaster" Target="/ppt/notesMasters/notesMaster1.xml" Id="R0bac8f549c8a4e7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7f46420c7ed418b" /><Relationship Type="http://schemas.openxmlformats.org/officeDocument/2006/relationships/notesMaster" Target="/ppt/notesMasters/notesMaster1.xml" Id="R4bfcae9811a744e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2abdb6ebeca42bd" /><Relationship Type="http://schemas.openxmlformats.org/officeDocument/2006/relationships/notesMaster" Target="/ppt/notesMasters/notesMaster1.xml" Id="Rdbfd73c454f04f7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f361be8e6764347" /><Relationship Type="http://schemas.openxmlformats.org/officeDocument/2006/relationships/notesMaster" Target="/ppt/notesMasters/notesMaster1.xml" Id="Rf340746a4b7747d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d722ecfccc84524" /><Relationship Type="http://schemas.openxmlformats.org/officeDocument/2006/relationships/notesMaster" Target="/ppt/notesMasters/notesMaster1.xml" Id="R2b503b8671264aa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06c2b2cd0e744b5" /><Relationship Type="http://schemas.openxmlformats.org/officeDocument/2006/relationships/notesMaster" Target="/ppt/notesMasters/notesMaster1.xml" Id="Rc71dbb4fa1e7459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a6bcbfc2c69400d" /><Relationship Type="http://schemas.openxmlformats.org/officeDocument/2006/relationships/notesMaster" Target="/ppt/notesMasters/notesMaster1.xml" Id="R491ccecfd104427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a67e8799e6840c2" /><Relationship Type="http://schemas.openxmlformats.org/officeDocument/2006/relationships/notesMaster" Target="/ppt/notesMasters/notesMaster1.xml" Id="Rec54285888034fa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ce0e67492854685" /><Relationship Type="http://schemas.openxmlformats.org/officeDocument/2006/relationships/notesMaster" Target="/ppt/notesMasters/notesMaster1.xml" Id="R48826a8de33045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Translated from the supplied 15-slide presentation. All research claims and reported values are retained. Technical qualifications appear in TECHNICAL_NOTES.md.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Translated from the supplied 15-slide presentation. All research claims and reported values are retained. Technical qualifications appear in TECHNICAL_NOTES.md.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Translated from the supplied 15-slide presentation. All research claims and reported values are retained. Technical qualifications appear in TECHNICAL_NOTES.md.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Translated from the supplied 15-slide presentation. All research claims and reported values are retained. Technical qualifications appear in TECHNICAL_NOTES.md.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Translated from the supplied 15-slide presentation. All research claims and reported values are retained. Technical qualifications appear in TECHNICAL_NOTES.md. The source slide reports more than 52,000 training windows; the report instead states more than 107,000 training windows and approximately 52,000 test windows. This discrepancy is preserved and documented.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Translated from the supplied 15-slide presentation. All research claims and reported values are retained. Technical qualifications appear in TECHNICAL_NOTES.md.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Translated from the supplied 15-slide presentation. All research claims and reported values are retained. Technical qualifications appear in TECHNICAL_NOTES.md.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Translated from the supplied 15-slide presentation. All research claims and reported values are retained. Technical qualifications appear in TECHNICAL_NOTES.md.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Translated from the supplied 15-slide presentation. All research claims and reported values are retained. Technical qualifications appear in TECHNICAL_NOTES.md.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Translated from the supplied 15-slide presentation. All research claims and reported values are retained. Technical qualifications appear in TECHNICAL_NOTES.md.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Translated from the supplied 15-slide presentation. All research claims and reported values are retained. Technical qualifications appear in TECHNICAL_NOTES.md.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Translated from the supplied 15-slide presentation. All research claims and reported values are retained. Technical qualifications appear in TECHNICAL_NOTES.md. The source notebook computes these metrics on smoothed predictions before gain calibration. Saved sample predictions are calibrated and clipped.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Translated from the supplied 15-slide presentation. All research claims and reported values are retained. Technical qualifications appear in TECHNICAL_NOTES.md. English reconstruction from the unchanged exported target and calibrated prediction arrays. All 4,211 saved observations are shown.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Translated from the supplied 15-slide presentation. All research claims and reported values are retained. Technical qualifications appear in TECHNICAL_NOTES.md.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Supplementary technical analysis based on the supplied notebook, model configuration, save metadata, and archived model summary.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Supplementary evaluation of unchanged exported arrays. Calculations are in results/extended_analysis/sample_diagnostics.json.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Supplementary descriptive diagnostics. The arrays do not identify the physical causes of individual residual peaks.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Supplementary scatter analysis of all saved calibrated predictions. No samples are excluded and no significance test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activity threshold is a diagnostic convention, not a physiological activation threshold. An inactive axis may coexist with motion on another axis.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Supplementary audit findings detailed in Chapters 6 and 8. Original research claims remain in the preceding translated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Supplementary research design. Regression checks validate software behavior; they do not replace independent training or deployment experiments.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Translated from the supplied 15-slide presentation. All research claims and reported values are retained. Technical qualifications appear in TECHNICAL_NOTES.md.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da05302d32492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6a4b3a43e94c3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1cb80204f0472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36c5a00bd7488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8c75ab63ff4dc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0f095435644f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AFB0FF-DECE-46BF-BC42-5C3BAC18E8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E41C99C-0E6B-429D-AAC1-289F6F3D6AB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E343DB9-96CD-4D3E-90B2-A00D4A3D4C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0BE94C-7FAD-4A85-926B-86E7F83CC8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C948F16-BB17-488C-B926-E34290D369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502EC47-8AE2-47F1-AABA-F62CFB1CE6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DA06354-F261-49D3-BA85-0E8B716C1D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216C53D-B110-48E8-BF63-5BE11C30836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A14653-7D01-48BC-9B95-9A370CC87B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6D2C43B-54AE-46F5-9C31-011785673E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e24f497ea64e5d" /><Relationship Type="http://schemas.openxmlformats.org/officeDocument/2006/relationships/slideLayout" Target="/ppt/slideLayouts/slideLayout1.xml" Id="R714fc4becc5f41c9" /><Relationship Type="http://schemas.openxmlformats.org/officeDocument/2006/relationships/slideLayout" Target="/ppt/slideLayouts/slideLayout2.xml" Id="R7071115f5f574741" /><Relationship Type="http://schemas.openxmlformats.org/officeDocument/2006/relationships/slideLayout" Target="/ppt/slideLayouts/slideLayout3.xml" Id="R888ebadba1ec4408" /><Relationship Type="http://schemas.openxmlformats.org/officeDocument/2006/relationships/slideLayout" Target="/ppt/slideLayouts/slideLayout4.xml" Id="R7f24a32426a44636" /><Relationship Type="http://schemas.openxmlformats.org/officeDocument/2006/relationships/slideLayout" Target="/ppt/slideLayouts/slideLayout5.xml" Id="R8b93d94cc9514b00" /><Relationship Type="http://schemas.openxmlformats.org/officeDocument/2006/relationships/slideLayout" Target="/ppt/slideLayouts/slideLayout6.xml" Id="Re5ddebbc0bd74a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4fc4becc5f41c9"/>
    <p:sldLayoutId xmlns:r="http://schemas.openxmlformats.org/officeDocument/2006/relationships" id="2147483650" r:id="R7071115f5f574741"/>
    <p:sldLayoutId xmlns:r="http://schemas.openxmlformats.org/officeDocument/2006/relationships" id="2147483651" r:id="R888ebadba1ec4408"/>
    <p:sldLayoutId xmlns:r="http://schemas.openxmlformats.org/officeDocument/2006/relationships" id="2147483652" r:id="R7f24a32426a44636"/>
    <p:sldLayoutId xmlns:r="http://schemas.openxmlformats.org/officeDocument/2006/relationships" id="2147483653" r:id="R8b93d94cc9514b00"/>
    <p:sldLayoutId xmlns:r="http://schemas.openxmlformats.org/officeDocument/2006/relationships" id="2147483654" r:id="Re5ddebbc0bd74a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39db1bf2e74a45" /><Relationship Type="http://schemas.openxmlformats.org/officeDocument/2006/relationships/notesSlide" Target="/ppt/notesSlides/notesSlide1.xml" Id="R94019849367641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e41474cf4e4c7b" /><Relationship Type="http://schemas.openxmlformats.org/officeDocument/2006/relationships/image" Target="/ppt/media/image.png" Id="R37cfec15e68d43e9" /><Relationship Type="http://schemas.openxmlformats.org/officeDocument/2006/relationships/notesSlide" Target="/ppt/notesSlides/notesSlide2.xml" Id="R547a2d41726b46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bb30bae9804b3d" /><Relationship Type="http://schemas.openxmlformats.org/officeDocument/2006/relationships/notesSlide" Target="/ppt/notesSlides/notesSlide3.xml" Id="R1ef1494e526b47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b8e054d4984357" /><Relationship Type="http://schemas.openxmlformats.org/officeDocument/2006/relationships/image" Target="/ppt/media/image2.png" Id="Rc80537956ec64171" /><Relationship Type="http://schemas.openxmlformats.org/officeDocument/2006/relationships/notesSlide" Target="/ppt/notesSlides/notesSlide4.xml" Id="R22ac9a5c1bbd46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cc9ee85e5c4259" /><Relationship Type="http://schemas.openxmlformats.org/officeDocument/2006/relationships/image" Target="/ppt/media/image3.png" Id="R5c56275aa670408a" /><Relationship Type="http://schemas.openxmlformats.org/officeDocument/2006/relationships/notesSlide" Target="/ppt/notesSlides/notesSlide5.xml" Id="Re37b7c86202746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c1422746b64664" /><Relationship Type="http://schemas.openxmlformats.org/officeDocument/2006/relationships/image" Target="/ppt/media/image4.png" Id="R1dde340f7caa49d7" /><Relationship Type="http://schemas.openxmlformats.org/officeDocument/2006/relationships/notesSlide" Target="/ppt/notesSlides/notesSlide6.xml" Id="Rf2f71ada74dc4c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de9c28bbc24781" /><Relationship Type="http://schemas.openxmlformats.org/officeDocument/2006/relationships/image" Target="/ppt/media/image5.png" Id="R2b28dfbb50ff4a0e" /><Relationship Type="http://schemas.openxmlformats.org/officeDocument/2006/relationships/notesSlide" Target="/ppt/notesSlides/notesSlide7.xml" Id="Rff18d33cc47c4f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9fb71d6523418d" /><Relationship Type="http://schemas.openxmlformats.org/officeDocument/2006/relationships/image" Target="/ppt/media/image6.png" Id="Rbb22b05b672f4228" /><Relationship Type="http://schemas.openxmlformats.org/officeDocument/2006/relationships/notesSlide" Target="/ppt/notesSlides/notesSlide8.xml" Id="R85f1b828c1484e5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ad7062af734ca8" /><Relationship Type="http://schemas.openxmlformats.org/officeDocument/2006/relationships/image" Target="/ppt/media/image7.png" Id="Rebe4dfc0f1c943bf" /><Relationship Type="http://schemas.openxmlformats.org/officeDocument/2006/relationships/notesSlide" Target="/ppt/notesSlides/notesSlide9.xml" Id="Rc6188847564244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e6293236e1430d" /><Relationship Type="http://schemas.openxmlformats.org/officeDocument/2006/relationships/notesSlide" Target="/ppt/notesSlides/notesSlide10.xml" Id="Rcc60c81282ca4c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4ea60f28ec4270" /><Relationship Type="http://schemas.openxmlformats.org/officeDocument/2006/relationships/image" Target="/ppt/media/image8.png" Id="R692b5525c4dd4712" /><Relationship Type="http://schemas.openxmlformats.org/officeDocument/2006/relationships/notesSlide" Target="/ppt/notesSlides/notesSlide11.xml" Id="R7e2c691380474ad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e848eafcae4da0" /><Relationship Type="http://schemas.openxmlformats.org/officeDocument/2006/relationships/notesSlide" Target="/ppt/notesSlides/notesSlide12.xml" Id="Rc2d500345a0d440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023a243d3c4bd6" /><Relationship Type="http://schemas.openxmlformats.org/officeDocument/2006/relationships/image" Target="/ppt/media/image9.png" Id="R3e24d3c714c64b1a" /><Relationship Type="http://schemas.openxmlformats.org/officeDocument/2006/relationships/notesSlide" Target="/ppt/notesSlides/notesSlide13.xml" Id="R612b1787bcaf45c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168f4e4ad140a0" /><Relationship Type="http://schemas.openxmlformats.org/officeDocument/2006/relationships/notesSlide" Target="/ppt/notesSlides/notesSlide14.xml" Id="R56b9ff5b28624bd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534d14e131483c" /><Relationship Type="http://schemas.openxmlformats.org/officeDocument/2006/relationships/notesSlide" Target="/ppt/notesSlides/notesSlide15.xml" Id="R156bbd533ff64dd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6478199fbc4c9f" /><Relationship Type="http://schemas.openxmlformats.org/officeDocument/2006/relationships/notesSlide" Target="/ppt/notesSlides/notesSlide16.xml" Id="R68e08c9694734ff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33965114a4492c" /><Relationship Type="http://schemas.openxmlformats.org/officeDocument/2006/relationships/image" Target="/ppt/media/image10.png" Id="R5ea5161c60a74de2" /><Relationship Type="http://schemas.openxmlformats.org/officeDocument/2006/relationships/notesSlide" Target="/ppt/notesSlides/notesSlide17.xml" Id="R88e9e541289e481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804f5e134346c6" /><Relationship Type="http://schemas.openxmlformats.org/officeDocument/2006/relationships/image" Target="/ppt/media/image11.png" Id="R7b5add38a1b147cc" /><Relationship Type="http://schemas.openxmlformats.org/officeDocument/2006/relationships/notesSlide" Target="/ppt/notesSlides/notesSlide18.xml" Id="R0200645da82d471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0877edfb4f40a8" /><Relationship Type="http://schemas.openxmlformats.org/officeDocument/2006/relationships/image" Target="/ppt/media/image12.png" Id="Rb2a455949650440d" /><Relationship Type="http://schemas.openxmlformats.org/officeDocument/2006/relationships/notesSlide" Target="/ppt/notesSlides/notesSlide19.xml" Id="R65bde5ed743f45d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89fb15d17343f9" /><Relationship Type="http://schemas.openxmlformats.org/officeDocument/2006/relationships/notesSlide" Target="/ppt/notesSlides/notesSlide20.xml" Id="Ra6781379b1e342d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162ead4dd646f8" /><Relationship Type="http://schemas.openxmlformats.org/officeDocument/2006/relationships/notesSlide" Target="/ppt/notesSlides/notesSlide21.xml" Id="Rc1fa695767b94e2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201a8b3085495b" /><Relationship Type="http://schemas.openxmlformats.org/officeDocument/2006/relationships/notesSlide" Target="/ppt/notesSlides/notesSlide22.xml" Id="Rfac8f2a0bd814b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330943-1A42-4C7D-A630-B7081724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Recognition of Hand Motions Using sEMG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BE4459-C446-44FA-892D-03B839F6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76F"/>
                </a:solidFill>
                <a:latin typeface="Calibri"/>
                <a:ea typeface="Calibri"/>
                <a:cs typeface="Calibri"/>
              </a:rPr>
              <a:t>Bachelor’s degree project  |  Continuous wrist kinematics using sEMG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D31A3A-7013-4902-BF2C-14A22CB3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76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785C3E-5BA3-40F4-A6A0-BC172B40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Bachelor’s Degree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0053CA-CC41-427D-B61B-674BD7D9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Student: Reza Sanaeinejad</a:t>
            </a:r>
          </a:p>
          <a:p xmlns:a="http://schemas.openxmlformats.org/drawingml/2006/main">
            <a:pPr>
              <a:defRPr sz="217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Supervisor: Dr. Mehran Jahed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B29887-F527-4563-B759-82AEF45A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0"/>
            <a:ext cx="10953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Department of Electrical Engineering</a:t>
            </a:r>
          </a:p>
          <a:p xmlns:a="http://schemas.openxmlformats.org/drawingml/2006/main">
            <a:pPr>
              <a:defRPr sz="195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Sharif University of Technology</a:t>
            </a:r>
          </a:p>
          <a:p xmlns:a="http://schemas.openxmlformats.org/drawingml/2006/main">
            <a:pPr>
              <a:defRPr sz="195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Khordad 1405 (May–June 2026)</a:t>
            </a:r>
          </a:p>
        </p:txBody>
      </p:sp>
    </p:spTree>
    <p:extLst>
      <p:ext uri="{BB962C8B-B14F-4D97-AF65-F5344CB8AC3E}">
        <p14:creationId xmlns:p14="http://schemas.microsoft.com/office/powerpoint/2010/main" val="1695468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50BE66-6126-4807-BEAC-68E88467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Project Overview and Key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5409AD-99B0-4F8E-ADF7-8FFA6634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76F"/>
                </a:solidFill>
                <a:latin typeface="Calibri"/>
                <a:ea typeface="Calibri"/>
                <a:cs typeface="Calibri"/>
              </a:rPr>
              <a:t>Bachelor’s degree project  |  Continuous wrist kinematics using sEMG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FBC1CF-12A5-460C-B81E-9CFC46E2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76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1E360D-9B40-47CE-962E-BED779A913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cfec15e68d43e9"/>
          <a:stretch xmlns:a="http://schemas.openxmlformats.org/drawingml/2006/main"/>
        </p:blipFill>
        <p:spPr>
          <a:xfrm xmlns:a="http://schemas.openxmlformats.org/drawingml/2006/main">
            <a:off x="506304" y="1352550"/>
            <a:ext cx="3997542" cy="4438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BE61C9-8A99-4221-A09B-0A9F5846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33500"/>
            <a:ext cx="6762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The principal objective is to develop a deep learning model for continuously estimating three wrist angles from surface electromyography (sEMG) signals.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The project estimates motion continuously rather than performing discrete classification.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B533CD-9055-42EF-9477-4B38161B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76625"/>
            <a:ext cx="676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Roll: inward and outward rotation</a:t>
            </a:r>
          </a:p>
          <a:p xmlns:a="http://schemas.openxmlformats.org/drawingml/2006/main">
            <a:pPr>
              <a:defRPr sz="187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Pitch: upward and downward wrist flexion</a:t>
            </a:r>
          </a:p>
          <a:p xmlns:a="http://schemas.openxmlformats.org/drawingml/2006/main">
            <a:pPr>
              <a:defRPr sz="187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Yaw: leftward and rightward wrist deviation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D63200-F063-436E-B663-021FC3CE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48275"/>
            <a:ext cx="676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Dataset: NinaPro DB2, including movement data and muscle signals sampled at 2,000 Hz.</a:t>
            </a:r>
          </a:p>
        </p:txBody>
      </p:sp>
    </p:spTree>
    <p:extLst>
      <p:ext uri="{BB962C8B-B14F-4D97-AF65-F5344CB8AC3E}">
        <p14:creationId xmlns:p14="http://schemas.microsoft.com/office/powerpoint/2010/main" val="7822779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6F8A9B-FAE5-422D-99E1-C96C51C9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Phase 1  Baseline Model Development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07C143-8A52-4F45-9D56-81EEEC50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76F"/>
                </a:solidFill>
                <a:latin typeface="Calibri"/>
                <a:ea typeface="Calibri"/>
                <a:cs typeface="Calibri"/>
              </a:rPr>
              <a:t>Bachelor’s degree project  |  Continuous wrist kinematics using sEMG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AB2356-F9E6-4F4A-94FC-C68F9438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76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1D6F2E-EC1F-48F2-9299-FBCDCE04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3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Objective: construct a baseline architecture that is robust to sEMG noise and prevents data leakage under an intra-subject protocol.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D9D9A6-D32E-4B63-A313-CC7855F9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1  Preprocessing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58457C-E764-4F15-B5C5-FCFEF881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19450"/>
            <a:ext cx="34290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Butterworth low-pass filtering (5 Hz) and signal rectification using the absolute value.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331149-A66E-4390-A0EA-BBA3CE8F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762375"/>
            <a:ext cx="28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F9034B-6844-4E5A-8F46-8C2FE2B6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62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2  Windowing strategy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0E4958-79F8-4D1F-B991-67CCC30C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19450"/>
            <a:ext cx="34290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600-sample windows (300 milliseconds) provide the complete temporal context of muscular contraction.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BD007D-77A4-4182-8BE7-4DD0E372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762375"/>
            <a:ext cx="28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0A5795-366A-45FB-A78F-BA4B0C26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62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3  Baseline architecture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04E731-0CEC-4487-B9CC-BC3DB9A5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19450"/>
            <a:ext cx="34290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A hybrid CNN-LSTM with Huber loss addresses abrupt changes at movement boundaries.</a:t>
            </a:r>
          </a:p>
        </p:txBody>
      </p:sp>
    </p:spTree>
    <p:extLst>
      <p:ext uri="{BB962C8B-B14F-4D97-AF65-F5344CB8AC3E}">
        <p14:creationId xmlns:p14="http://schemas.microsoft.com/office/powerpoint/2010/main" val="6746119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BAA6E9-F872-4472-905D-AEAE002E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Phase 1 Evaluation  Stability for a Single Subject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B8D67B-6F85-4F0F-8D08-ABF4B8F9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76F"/>
                </a:solidFill>
                <a:latin typeface="Calibri"/>
                <a:ea typeface="Calibri"/>
                <a:cs typeface="Calibri"/>
              </a:rPr>
              <a:t>Bachelor’s degree project  |  Continuous wrist kinematics using sEMG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1A7631-DD45-4E94-A6BE-70632473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76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47A8F6-C025-492A-BC83-0FDEEBADE3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0537956ec64171"/>
          <a:stretch xmlns:a="http://schemas.openxmlformats.org/drawingml/2006/main"/>
        </p:blipFill>
        <p:spPr>
          <a:xfrm xmlns:a="http://schemas.openxmlformats.org/drawingml/2006/main">
            <a:off x="487680" y="1371600"/>
            <a:ext cx="6035040" cy="4000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0E8F31-CE56-4510-946B-878BB37E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91175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Baseline model output: satisfactory accuracy for one particular user.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CC0DC8-DD13-4910-9532-FEDFBE4B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333500"/>
            <a:ext cx="4667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The Phase 1 results show that combining convolutional and recurrent networks provides a good understanding of one individual’s movements.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418414-DA40-4F82-B266-3FBC67DB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190875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Reason for proceeding to Phase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57DE7B-7692-4B92-90C5-D83838BD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648075"/>
            <a:ext cx="46672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Principal limitation: the model was trained exclusively on data from one particular user (intra-subject).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Scientific need: real-world models must generalize across different individuals.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This fundamental limitation motivated pooling data from several users and testing the network’s capabilities.</a:t>
            </a:r>
          </a:p>
        </p:txBody>
      </p:sp>
    </p:spTree>
    <p:extLst>
      <p:ext uri="{BB962C8B-B14F-4D97-AF65-F5344CB8AC3E}">
        <p14:creationId xmlns:p14="http://schemas.microsoft.com/office/powerpoint/2010/main" val="7829540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AA9EDB-6047-4EE5-A6F6-B178D021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Phase 2  Evaluation of a General Inter Subject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1A3F02-CE62-4C99-B21C-176C6B2D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76F"/>
                </a:solidFill>
                <a:latin typeface="Calibri"/>
                <a:ea typeface="Calibri"/>
                <a:cs typeface="Calibri"/>
              </a:rPr>
              <a:t>Bachelor’s degree project  |  Continuous wrist kinematics using sEMG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C150C6-6598-4A55-9DDA-1FD4C3CB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76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89B525-51F7-4958-AACC-1B004AA4B3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56275aa670408a"/>
          <a:stretch xmlns:a="http://schemas.openxmlformats.org/drawingml/2006/main"/>
        </p:blipFill>
        <p:spPr>
          <a:xfrm xmlns:a="http://schemas.openxmlformats.org/drawingml/2006/main">
            <a:off x="457200" y="1552088"/>
            <a:ext cx="6191250" cy="411577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6259E8-3D59-4150-ADBD-76C65BAC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323975"/>
            <a:ext cx="4667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Data from seven different subjects were pooled, with more than 52,000 training windows. Anatomical diversity increased substantially.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8FF5C-B2AF-455E-97C8-E09DD970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6225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Version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7A6658-DC69-48AE-97C1-B76D9A9C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1945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Architecture: Conv1D layers and a conventional unidirectional recurrent layer.</a:t>
            </a:r>
          </a:p>
          <a:p xmlns:a="http://schemas.openxmlformats.org/drawingml/2006/main">
            <a:pPr>
              <a:defRPr sz="180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Approximately 134,000 parameters.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E0CC0E-94A3-4B0E-89EB-2D66688C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4340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Reason for proceeding to Phase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0E1778-7EF1-4F6D-9EC3-A8C3AFED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00600"/>
            <a:ext cx="466725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Principal limitation: despite the deep architecture, the model exhibited oscillations and confusion when handling diverse data and failed to identify a stable pattern across users.</a:t>
            </a:r>
          </a:p>
          <a:p xmlns:a="http://schemas.openxmlformats.org/drawingml/2006/main">
            <a:pPr>
              <a:defRPr sz="165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Scientific need: improve the model to capture more complex patterns and resist inter-subject variation.</a:t>
            </a:r>
          </a:p>
        </p:txBody>
      </p:sp>
    </p:spTree>
    <p:extLst>
      <p:ext uri="{BB962C8B-B14F-4D97-AF65-F5344CB8AC3E}">
        <p14:creationId xmlns:p14="http://schemas.microsoft.com/office/powerpoint/2010/main" val="6819172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C1244F-7537-4493-9E9A-ABAED103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Phase 3  Spatiotemporal Improvements and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EBF1C3-B70C-42A9-9A47-8D03327F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76F"/>
                </a:solidFill>
                <a:latin typeface="Calibri"/>
                <a:ea typeface="Calibri"/>
                <a:cs typeface="Calibri"/>
              </a:rPr>
              <a:t>Bachelor’s degree project  |  Continuous wrist kinematics using sEMG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DC8A0A-4CA8-4059-A5E1-90BF82BB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76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F4C80-EDED-4883-982E-CEE8C080FB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de340f7caa49d7"/>
          <a:stretch xmlns:a="http://schemas.openxmlformats.org/drawingml/2006/main"/>
        </p:blipFill>
        <p:spPr>
          <a:xfrm xmlns:a="http://schemas.openxmlformats.org/drawingml/2006/main">
            <a:off x="457200" y="1391791"/>
            <a:ext cx="6191250" cy="274091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7C675C-BB73-4A67-B9F5-3377D1C1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71975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Architectural development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DF2593-BC1D-4DC4-BFB9-756B9267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29175"/>
            <a:ext cx="6477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Dilated convolutions: dilation rates of 1, 2, and 4 capture a much broader temporal range without increasing the computational burden.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Savitzky–Golay filtering removes noise during postprocessing without eliminating the peaks.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9776E0-756E-4F01-A4D5-1EAEDCB0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5737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Inter subject validation protocols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B7043D-61AD-4342-8326-0985D672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14575"/>
            <a:ext cx="428625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The model was evaluated using two rigorous approaches: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1. Leave-One-Subject-Out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2. Global Repetition Split</a:t>
            </a:r>
          </a:p>
        </p:txBody>
      </p:sp>
    </p:spTree>
    <p:extLst>
      <p:ext uri="{BB962C8B-B14F-4D97-AF65-F5344CB8AC3E}">
        <p14:creationId xmlns:p14="http://schemas.microsoft.com/office/powerpoint/2010/main" val="8501881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1D48CD-A13D-46B3-9F22-01E5F9BA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Phase 3  Leave One Subject Out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93759E-16CF-461E-9715-A4C1702D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76F"/>
                </a:solidFill>
                <a:latin typeface="Calibri"/>
                <a:ea typeface="Calibri"/>
                <a:cs typeface="Calibri"/>
              </a:rPr>
              <a:t>Bachelor’s degree project  |  Continuous wrist kinematics using sEMG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7E7114-B74B-4263-AFCB-05CF2D8E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76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57FE56-3447-44C7-9DA3-01CEC54167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28dfbb50ff4a0e"/>
          <a:stretch xmlns:a="http://schemas.openxmlformats.org/drawingml/2006/main"/>
        </p:blipFill>
        <p:spPr>
          <a:xfrm xmlns:a="http://schemas.openxmlformats.org/drawingml/2006/main">
            <a:off x="457200" y="1502785"/>
            <a:ext cx="6096000" cy="405245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A0F7AE-A872-41E9-AF51-E7241C2F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9775"/>
            <a:ext cx="628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Phase 3 output under the Leave-One-Subject-Out protocol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8DF405-A943-4DAC-8B85-98B3BDF3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323975"/>
            <a:ext cx="471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Leave One Subject Out protocol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176C28-0743-47A8-BA52-6E0EFBB9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781175"/>
            <a:ext cx="4714875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The model is trained on all subjects except one and then tested on the held-out subject. This process is repeated for each subject to evaluate performance on unseen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53ECDD-6DE1-4138-AF3B-6F04DFCA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848100"/>
            <a:ext cx="471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Problem observed in the curves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936416-F459-499B-A061-B101CEB4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305300"/>
            <a:ext cx="4714875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The model has considerable difficulty accurately predicting the actual values for a new subject. The predicted curves (red) contain substantial noise and fail to follow the principal patterns and peaks of the actual signal (black). This indicates inadequate generalization to new individuals.</a:t>
            </a:r>
          </a:p>
        </p:txBody>
      </p:sp>
    </p:spTree>
    <p:extLst>
      <p:ext uri="{BB962C8B-B14F-4D97-AF65-F5344CB8AC3E}">
        <p14:creationId xmlns:p14="http://schemas.microsoft.com/office/powerpoint/2010/main" val="11374102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CD3EC4-0E6F-4C4E-BC7E-2E46D919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Biological Signal Variation and the Project’s Change of Approach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E4661C-7DE4-480E-8316-B4BDFEEA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76F"/>
                </a:solidFill>
                <a:latin typeface="Calibri"/>
                <a:ea typeface="Calibri"/>
                <a:cs typeface="Calibri"/>
              </a:rPr>
              <a:t>Bachelor’s degree project  |  Continuous wrist kinematics using sEMG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544B8E-873A-4FD3-A1EF-B63D1FE2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76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4C134A-312C-4EC6-80AF-8580CD74F1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22b05b672f4228"/>
          <a:stretch xmlns:a="http://schemas.openxmlformats.org/drawingml/2006/main"/>
        </p:blipFill>
        <p:spPr>
          <a:xfrm xmlns:a="http://schemas.openxmlformats.org/drawingml/2006/main">
            <a:off x="959827" y="1362075"/>
            <a:ext cx="4900246" cy="32575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45CF2E-CC51-4F38-A84D-E9AFAE72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29175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Phase 3 output under the Global Repetition Split protocol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984FCB-86F3-4BD4-BF74-98BBCBDA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3716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Reason for proceeding to the final phase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40FD5B-CDA8-4492-9B8D-80A493BF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828800"/>
            <a:ext cx="4857750" cy="421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Phase 3 demonstrated a scientific finding: covariate shift in sEMG signals across individuals is so substantial that constructing a fully general model that works for a new person without fine-tuning is practically impossible.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Overall solution: return to a subject-specific intra-subject approach in Phase 4, while constructing a fully continuous and physiological model. Discrete labels are converted into smooth biomechanical motions, with the aim of bringing the error close to zero.</a:t>
            </a:r>
          </a:p>
        </p:txBody>
      </p:sp>
    </p:spTree>
    <p:extLst>
      <p:ext uri="{BB962C8B-B14F-4D97-AF65-F5344CB8AC3E}">
        <p14:creationId xmlns:p14="http://schemas.microsoft.com/office/powerpoint/2010/main" val="900715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3919C7-D48E-4E33-9185-5D97F029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Phase 4  Continuous and Physiological Kinematics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2D4D13-D715-4A6E-8A0D-1BA4F0E9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76F"/>
                </a:solidFill>
                <a:latin typeface="Calibri"/>
                <a:ea typeface="Calibri"/>
                <a:cs typeface="Calibri"/>
              </a:rPr>
              <a:t>Bachelor’s degree project  |  Continuous wrist kinematics using sEMG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D372D9-A6FC-4B61-968A-00C7498D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76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055EDA-E878-4855-9AA7-391A83E402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e4dfc0f1c943bf"/>
          <a:stretch xmlns:a="http://schemas.openxmlformats.org/drawingml/2006/main"/>
        </p:blipFill>
        <p:spPr>
          <a:xfrm xmlns:a="http://schemas.openxmlformats.org/drawingml/2006/main">
            <a:off x="457200" y="2365231"/>
            <a:ext cx="5619750" cy="229898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8165DA-4C4C-4186-946E-430E7E08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04925"/>
            <a:ext cx="5219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Objective: move beyond simple classification and obtain accurate, smooth motion estimates that resemble the actual biomechanics of the human hand.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F45182-540E-4F0E-97CA-76CEA546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619375"/>
            <a:ext cx="521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Innovation 1  Target Label Smoothing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1B600C-2AFC-420B-85A6-7D9F7C00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76575"/>
            <a:ext cx="521970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A human hand cannot change its angle instantaneously in a square-wave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The earlier networks produced high-frequency oscillations when attempting to predict step functions.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A Gaussian low-pass filter with sigma = 400 transformed the target values into continuous curves.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The neural network learned to predict gradual acceleration, reaching a peak, and a smooth stop.</a:t>
            </a:r>
          </a:p>
        </p:txBody>
      </p:sp>
    </p:spTree>
    <p:extLst>
      <p:ext uri="{BB962C8B-B14F-4D97-AF65-F5344CB8AC3E}">
        <p14:creationId xmlns:p14="http://schemas.microsoft.com/office/powerpoint/2010/main" val="14716367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2394E0-1B72-4B24-9EAE-59F350C2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Final Model Architecture and Its Rationale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ACB1A4-D0B8-44C2-87C3-124EF98B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76F"/>
                </a:solidFill>
                <a:latin typeface="Calibri"/>
                <a:ea typeface="Calibri"/>
                <a:cs typeface="Calibri"/>
              </a:rPr>
              <a:t>Bachelor’s degree project  |  Continuous wrist kinematics using sEMG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98FDB4-E8F9-483F-9002-585AB57E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76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9E2AE7-3F03-4426-9A01-62505142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395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Why combine CNN and LSTM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8DC513-537E-4712-A3FA-CB4A0119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3952875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A standalone CNN does not capture the movement sequence. A standalone LSTM is computationally demanding and extracts features poorly from highly fluctuating raw signals.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The hybrid architecture combines the strengths of both approaches.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BF714D-1754-4621-BA58-CB60633C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257300"/>
            <a:ext cx="676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Input noise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A766C0-6276-41C7-B546-DB7716B2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4305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GaussianNoise improves robustness to sensor noise.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D98AB8-2469-4135-A7F9-BB819F8C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52625"/>
            <a:ext cx="676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1  Conv1D × 2 and L2 regularization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DD2617-905C-4655-9517-E1BB3372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3837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Extract high-frequency spatial features.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053A2-D39F-4336-9357-BD7E85EE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47950"/>
            <a:ext cx="676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2  BatchNormalization and MaxPooling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09EBF7-F59A-4B35-914D-81623B6F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3370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Accelerate convergence and reduce dimensionality.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455618-9E60-4B9C-8719-F76C0414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43275"/>
            <a:ext cx="676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3  SpatialDropout1D  0.2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E45D12-0DA5-483A-88A6-7AFDEAF5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290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Prevent overfitting in spatial feature maps.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D8E9FA-4E64-4B46-A259-805FBEA6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38600"/>
            <a:ext cx="676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4  LSTM  64 units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3F0936-7E0F-4B63-BB5B-44C12B9A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2435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Capture complex long-term temporal dependencies.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E54DE3-3E9D-4F97-B412-739923EC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33925"/>
            <a:ext cx="676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5  GlobalAveragePooling1D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1DBC40-BFCE-4852-AE37-63EA16F3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1967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Aggregate feature maps.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F04CFD-D04D-4BE9-8446-56DF109B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29250"/>
            <a:ext cx="676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6  Dense  64 to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45DC73-8E65-4E8F-B838-CBCBAB82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71500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Provide linear regression for three motion axes.</a:t>
            </a:r>
          </a:p>
        </p:txBody>
      </p:sp>
    </p:spTree>
    <p:extLst>
      <p:ext uri="{BB962C8B-B14F-4D97-AF65-F5344CB8AC3E}">
        <p14:creationId xmlns:p14="http://schemas.microsoft.com/office/powerpoint/2010/main" val="18303473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A76E1D-185C-48DC-B3E1-6396CCBF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Innovation 2  Gain Calibration for Amplitude Attenuation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6EC24B-C719-4270-8201-B9FD5941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76F"/>
                </a:solidFill>
                <a:latin typeface="Calibri"/>
                <a:ea typeface="Calibri"/>
                <a:cs typeface="Calibri"/>
              </a:rPr>
              <a:t>Bachelor’s degree project  |  Continuous wrist kinematics using sEMG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2C7637-13F4-4242-A1EC-CFC89575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76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BEF73-D9ED-4706-ACAA-44D431A7A4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2b5525c4dd4712"/>
          <a:stretch xmlns:a="http://schemas.openxmlformats.org/drawingml/2006/main"/>
        </p:blipFill>
        <p:spPr>
          <a:xfrm xmlns:a="http://schemas.openxmlformats.org/drawingml/2006/main">
            <a:off x="2175460" y="1228725"/>
            <a:ext cx="7802980" cy="26955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6A616C-430B-46F4-9289-632E32C9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10050"/>
            <a:ext cx="4143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Challenge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995225-A0D4-4D38-8BCC-543C2CE8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0"/>
            <a:ext cx="41433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The MSE loss function causes conservative network behavior. The predictions are temporally aligned, but their amplitudes do not reach the absolute values of ±1.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7BD159-E4F3-4CA1-9756-D7471C20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210050"/>
            <a:ext cx="6638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Solution and outcome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88DCA0-6864-4035-A6CD-1838EC8C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667250"/>
            <a:ext cx="66389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A gain calibration factor was applied to the model output:</a:t>
            </a:r>
          </a:p>
          <a:p xmlns:a="http://schemas.openxmlformats.org/drawingml/2006/main">
            <a:pPr>
              <a:defRPr sz="172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y_pred_calibrated = y_pred_smoothed × 1.35</a:t>
            </a:r>
          </a:p>
          <a:p xmlns:a="http://schemas.openxmlformats.org/drawingml/2006/main">
            <a:pPr>
              <a:defRPr sz="172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The outputs were then clipped to the permitted range [−1, +1].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At the final joint angle, this technique produces a completely flat, stable plateau and prevents oscillation.</a:t>
            </a:r>
          </a:p>
        </p:txBody>
      </p:sp>
    </p:spTree>
    <p:extLst>
      <p:ext uri="{BB962C8B-B14F-4D97-AF65-F5344CB8AC3E}">
        <p14:creationId xmlns:p14="http://schemas.microsoft.com/office/powerpoint/2010/main" val="11270909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0A8E69-FFFB-4EA3-9178-567B165A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Quantitative Evaluation of the Final Model on Test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BFA63-3858-45F7-81E7-E606CBC4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76F"/>
                </a:solidFill>
                <a:latin typeface="Calibri"/>
                <a:ea typeface="Calibri"/>
                <a:cs typeface="Calibri"/>
              </a:rPr>
              <a:t>Bachelor’s degree project  |  Continuous wrist kinematics using sEMG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2D1B98-3FCA-4F55-ADCC-05EA017D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76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3D2647-38C1-44F9-A000-F4B1E9AE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43025"/>
            <a:ext cx="1114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Using learning rate reduction strategies such as ReduceLROnPlateau, the final model reached its optimal state at epoch 35.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193BF6-A79C-4380-AF6F-45A3A4779861}"/>
              </a:ext>
            </a:extLst>
          </p:cNvPr>
          <p:cNvGraphicFramePr/>
          <p:nvPr/>
        </p:nvGraphicFramePr>
        <p:xfrm>
          <a:off xmlns:a="http://schemas.openxmlformats.org/drawingml/2006/main" x="952500" y="2819400"/>
          <a:ext xmlns:a="http://schemas.openxmlformats.org/drawingml/2006/main" cx="102870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2381250"/>
                <a:gridCol w="4095750"/>
              </a:tblGrid>
              <a:tr h="6429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D38"/>
                          </a:solidFill>
                          <a:latin typeface="Calibri"/>
                          <a:ea typeface="Calibri"/>
                          <a:cs typeface="Calibri"/>
                        </a:rPr>
                        <a:t>Motion axis</a:t>
                      </a:r>
                    </a:p>
                  </a:txBody>
                  <a:tcPr marL="171450" marR="171450" marT="152400" marB="152400">
                    <a:solidFill>
                      <a:srgbClr val="DCE6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D38"/>
                          </a:solidFill>
                          <a:latin typeface="Calibri"/>
                          <a:ea typeface="Calibri"/>
                          <a:cs typeface="Calibri"/>
                        </a:rPr>
                        <a:t>RMSE</a:t>
                      </a:r>
                    </a:p>
                  </a:txBody>
                  <a:tcPr marL="171450" marR="171450" marT="152400" marB="152400">
                    <a:solidFill>
                      <a:srgbClr val="DCE6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2D38"/>
                          </a:solidFill>
                          <a:latin typeface="Calibri"/>
                          <a:ea typeface="Calibri"/>
                          <a:cs typeface="Calibri"/>
                        </a:rPr>
                        <a:t>Pearson correlation (CC)</a:t>
                      </a:r>
                    </a:p>
                  </a:txBody>
                  <a:tcPr marL="171450" marR="171450" marT="152400" marB="152400">
                    <a:solidFill>
                      <a:srgbClr val="DCE6EB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D38"/>
                          </a:solidFill>
                          <a:latin typeface="Calibri"/>
                          <a:ea typeface="Calibri"/>
                          <a:cs typeface="Calibri"/>
                        </a:rPr>
                        <a:t>Roll (rotation)</a:t>
                      </a:r>
                    </a:p>
                  </a:txBody>
                  <a:tcPr marL="171450" marR="171450" marT="152400" marB="152400"/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D38"/>
                          </a:solidFill>
                          <a:latin typeface="Calibri"/>
                          <a:ea typeface="Calibri"/>
                          <a:cs typeface="Calibri"/>
                        </a:rPr>
                        <a:t>0.1306</a:t>
                      </a:r>
                    </a:p>
                  </a:txBody>
                  <a:tcPr marL="171450" marR="171450" marT="152400" marB="152400"/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D38"/>
                          </a:solidFill>
                          <a:latin typeface="Calibri"/>
                          <a:ea typeface="Calibri"/>
                          <a:cs typeface="Calibri"/>
                        </a:rPr>
                        <a:t>0.8707</a:t>
                      </a:r>
                    </a:p>
                  </a:txBody>
                  <a:tcPr marL="171450" marR="171450" marT="152400" marB="152400"/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D38"/>
                          </a:solidFill>
                          <a:latin typeface="Calibri"/>
                          <a:ea typeface="Calibri"/>
                          <a:cs typeface="Calibri"/>
                        </a:rPr>
                        <a:t>Pitch (flexion)</a:t>
                      </a:r>
                    </a:p>
                  </a:txBody>
                  <a:tcPr marL="171450" marR="171450" marT="152400" marB="152400"/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D38"/>
                          </a:solidFill>
                          <a:latin typeface="Calibri"/>
                          <a:ea typeface="Calibri"/>
                          <a:cs typeface="Calibri"/>
                        </a:rPr>
                        <a:t>0.0753</a:t>
                      </a:r>
                    </a:p>
                  </a:txBody>
                  <a:tcPr marL="171450" marR="171450" marT="152400" marB="152400"/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D38"/>
                          </a:solidFill>
                          <a:latin typeface="Calibri"/>
                          <a:ea typeface="Calibri"/>
                          <a:cs typeface="Calibri"/>
                        </a:rPr>
                        <a:t>0.9634</a:t>
                      </a:r>
                    </a:p>
                  </a:txBody>
                  <a:tcPr marL="171450" marR="171450" marT="152400" marB="152400"/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D38"/>
                          </a:solidFill>
                          <a:latin typeface="Calibri"/>
                          <a:ea typeface="Calibri"/>
                          <a:cs typeface="Calibri"/>
                        </a:rPr>
                        <a:t>Yaw (deviation)</a:t>
                      </a:r>
                    </a:p>
                  </a:txBody>
                  <a:tcPr marL="171450" marR="171450" marT="152400" marB="152400"/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D38"/>
                          </a:solidFill>
                          <a:latin typeface="Calibri"/>
                          <a:ea typeface="Calibri"/>
                          <a:cs typeface="Calibri"/>
                        </a:rPr>
                        <a:t>0.1244</a:t>
                      </a:r>
                    </a:p>
                  </a:txBody>
                  <a:tcPr marL="171450" marR="171450" marT="152400" marB="152400"/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D38"/>
                          </a:solidFill>
                          <a:latin typeface="Calibri"/>
                          <a:ea typeface="Calibri"/>
                          <a:cs typeface="Calibri"/>
                        </a:rPr>
                        <a:t>0.8949</a:t>
                      </a:r>
                    </a:p>
                  </a:txBody>
                  <a:tcPr marL="171450" marR="171450" marT="152400" marB="15240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32238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EA244E-4C5B-442B-8B98-895A2EE9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Agreement Between Actual and Predicted Angles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6392E5-4C7C-4D83-B028-26FBD979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76F"/>
                </a:solidFill>
                <a:latin typeface="Calibri"/>
                <a:ea typeface="Calibri"/>
                <a:cs typeface="Calibri"/>
              </a:rPr>
              <a:t>Bachelor’s degree project  |  Continuous wrist kinematics using sEMG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4EABF3-0865-44D0-A658-3A0969A1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76F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8B9EBC-6B12-468C-A6A5-E1551BD673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24d3c714c64b1a"/>
          <a:stretch xmlns:a="http://schemas.openxmlformats.org/drawingml/2006/main"/>
        </p:blipFill>
        <p:spPr>
          <a:xfrm xmlns:a="http://schemas.openxmlformats.org/drawingml/2006/main">
            <a:off x="2025253" y="1228725"/>
            <a:ext cx="8141494" cy="5010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7307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335A43-6933-4EF8-A7BD-61481714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Overview of the Project’s Development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1C6F6B-4158-448B-895E-AC4EFE32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76F"/>
                </a:solidFill>
                <a:latin typeface="Calibri"/>
                <a:ea typeface="Calibri"/>
                <a:cs typeface="Calibri"/>
              </a:rPr>
              <a:t>Bachelor’s degree project  |  Continuous wrist kinematics using sEMG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36E86-D749-415D-9232-D6F7AC9B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76F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F1431D-ABEB-4218-9963-D04E2237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14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The project progressed through a scientific process from simple classification to accurate continuous estimation.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7589D-645D-407E-8958-A2EA9452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519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Architectural development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64BAF3-FA8C-4D18-9849-E72F6B47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51911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A natural balance between CNN for spatial features and LSTM for temporal sequences.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F1C286-BF03-4DD8-AB35-59B1D8E7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81250"/>
            <a:ext cx="519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Transition to continuous estimation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56184D-CEC3-4779-A1C0-00C7DE27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38450"/>
            <a:ext cx="51911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Overcoming the limitations of stepwise labels and obtaining smooth biomechanical trajectories using Gaussian filtering.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3FF8F5-DB14-4A5D-9328-66140F6A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519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Scientific transparency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3C4AEC-637D-4DD5-97A3-2553712F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51911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Demonstrating covariate shift in EMG signals and consciously selecting the intra-subject approach for the highest attainable accuracy.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ABCFCC-7E9A-47A6-86CA-D2947AD6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343400"/>
            <a:ext cx="519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Biomechanical engineering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6CC5EE-A165-46AE-96BA-549B519F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800600"/>
            <a:ext cx="519112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Introducing gain calibration to stabilize extreme motion values in real-time prosthesis implementations.</a:t>
            </a:r>
          </a:p>
        </p:txBody>
      </p:sp>
    </p:spTree>
    <p:extLst>
      <p:ext uri="{BB962C8B-B14F-4D97-AF65-F5344CB8AC3E}">
        <p14:creationId xmlns:p14="http://schemas.microsoft.com/office/powerpoint/2010/main" val="17285565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B16205-6AC9-4B79-AA71-D7238E84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Supplementary Verification of the Final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E63CC2-E948-4EB9-93DA-5DE3772D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76F"/>
                </a:solidFill>
                <a:latin typeface="Calibri"/>
                <a:ea typeface="Calibri"/>
                <a:cs typeface="Calibri"/>
              </a:rPr>
              <a:t>Bachelor’s degree project  |  Continuous wrist kinematics using sEMG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70A8A9-1C9C-4EF2-8638-2D54227F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76F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65CC57-BB79-4119-8737-75C2B1AE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3975"/>
            <a:ext cx="11049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The supplied final model contains 45,923 parameters: 45,731 trainable parameters and 192 BatchNormalization statistics.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8EFC18-7D71-4BD4-8A0C-FB539F1C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098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Verified configuration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861824-8DBC-43A3-AF9B-D303BD0E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7050"/>
            <a:ext cx="5143500" cy="2543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Two Conv1D layers with 32 and 64 filters use dilation rate 1.</a:t>
            </a:r>
          </a:p>
          <a:p xmlns:a="http://schemas.openxmlformats.org/drawingml/2006/main">
            <a:pPr>
              <a:defRPr sz="202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The recurrent layer is a unidirectional 64-unit LSTM.</a:t>
            </a:r>
          </a:p>
          <a:p xmlns:a="http://schemas.openxmlformats.org/drawingml/2006/main">
            <a:pPr>
              <a:defRPr sz="202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The effective initial learning rate is 0.00025.</a:t>
            </a:r>
          </a:p>
          <a:p xmlns:a="http://schemas.openxmlformats.org/drawingml/2006/main">
            <a:pPr>
              <a:defRPr sz="202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The saved model metadata records Keras 3.14.0.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F64C2F-16F0-4A89-B205-D43090B9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098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Evidence boundaries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09DBF5-EE90-4835-B2DB-E7512225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67050"/>
            <a:ext cx="5143500" cy="2543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The raw NinaPro recording and executable Phase 1–3 implementations are absent.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Targets in the supplied Phase 4 code are smoothed movement-code surrogates. They are not direct Cyberglove wrist-angle samples.</a:t>
            </a:r>
          </a:p>
        </p:txBody>
      </p:sp>
    </p:spTree>
    <p:extLst>
      <p:ext uri="{BB962C8B-B14F-4D97-AF65-F5344CB8AC3E}">
        <p14:creationId xmlns:p14="http://schemas.microsoft.com/office/powerpoint/2010/main" val="124458979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62ED18-0D65-475D-9A1B-9CE9AFB8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Extended Evaluation of the Saved Calibrated Predictions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2F706E-7441-4CBE-82AD-73F4E988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76F"/>
                </a:solidFill>
                <a:latin typeface="Calibri"/>
                <a:ea typeface="Calibri"/>
                <a:cs typeface="Calibri"/>
              </a:rPr>
              <a:t>Bachelor’s degree project  |  Continuous wrist kinematics using sEMG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CA08F-F743-4428-B9F9-F18516D1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76F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15E679-7B57-4F3A-BF5E-06A30594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All 4,211 saved observations are retained. Errors are in normalized target-amplitude units.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6B4A6C-A607-4EA6-BC60-52C0100BA563}"/>
              </a:ext>
            </a:extLst>
          </p:cNvPr>
          <p:cNvGraphicFramePr/>
          <p:nvPr/>
        </p:nvGraphicFramePr>
        <p:xfrm>
          <a:off xmlns:a="http://schemas.openxmlformats.org/drawingml/2006/main" x="666750" y="2571750"/>
          <a:ext xmlns:a="http://schemas.openxmlformats.org/drawingml/2006/main" cx="108585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2095500"/>
                <a:gridCol w="2095500"/>
                <a:gridCol w="2571750"/>
                <a:gridCol w="2381250"/>
              </a:tblGrid>
              <a:tr h="6191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D38"/>
                          </a:solidFill>
                          <a:latin typeface="Calibri"/>
                          <a:ea typeface="Calibri"/>
                          <a:cs typeface="Calibri"/>
                        </a:rPr>
                        <a:t>Axis</a:t>
                      </a:r>
                    </a:p>
                  </a:txBody>
                  <a:tcPr marL="152400" marR="152400" marT="152400" marB="152400">
                    <a:solidFill>
                      <a:srgbClr val="DCE6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D38"/>
                          </a:solidFill>
                          <a:latin typeface="Calibri"/>
                          <a:ea typeface="Calibri"/>
                          <a:cs typeface="Calibri"/>
                        </a:rPr>
                        <a:t>RMSE</a:t>
                      </a:r>
                    </a:p>
                  </a:txBody>
                  <a:tcPr marL="152400" marR="152400" marT="152400" marB="152400">
                    <a:solidFill>
                      <a:srgbClr val="DCE6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D38"/>
                          </a:solidFill>
                          <a:latin typeface="Calibri"/>
                          <a:ea typeface="Calibri"/>
                          <a:cs typeface="Calibri"/>
                        </a:rPr>
                        <a:t>MAE</a:t>
                      </a:r>
                    </a:p>
                  </a:txBody>
                  <a:tcPr marL="152400" marR="152400" marT="152400" marB="152400">
                    <a:solidFill>
                      <a:srgbClr val="DCE6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D38"/>
                          </a:solidFill>
                          <a:latin typeface="Calibri"/>
                          <a:ea typeface="Calibri"/>
                          <a:cs typeface="Calibri"/>
                        </a:rPr>
                        <a:t>Pearson CC</a:t>
                      </a:r>
                    </a:p>
                  </a:txBody>
                  <a:tcPr marL="152400" marR="152400" marT="152400" marB="152400">
                    <a:solidFill>
                      <a:srgbClr val="DCE6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D38"/>
                          </a:solidFill>
                          <a:latin typeface="Calibri"/>
                          <a:ea typeface="Calibri"/>
                          <a:cs typeface="Calibri"/>
                        </a:rPr>
                        <a:t>R squared</a:t>
                      </a:r>
                    </a:p>
                  </a:txBody>
                  <a:tcPr marL="152400" marR="152400" marT="152400" marB="152400">
                    <a:solidFill>
                      <a:srgbClr val="DCE6EB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D38"/>
                          </a:solidFill>
                          <a:latin typeface="Calibri"/>
                          <a:ea typeface="Calibri"/>
                          <a:cs typeface="Calibri"/>
                        </a:rPr>
                        <a:t>Roll</a:t>
                      </a:r>
                    </a:p>
                  </a:txBody>
                  <a:tcPr marL="152400" marR="152400" marT="152400" marB="152400"/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D38"/>
                          </a:solidFill>
                          <a:latin typeface="Calibri"/>
                          <a:ea typeface="Calibri"/>
                          <a:cs typeface="Calibri"/>
                        </a:rPr>
                        <a:t>0.1181</a:t>
                      </a:r>
                    </a:p>
                  </a:txBody>
                  <a:tcPr marL="152400" marR="152400" marT="152400" marB="152400"/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D38"/>
                          </a:solidFill>
                          <a:latin typeface="Calibri"/>
                          <a:ea typeface="Calibri"/>
                          <a:cs typeface="Calibri"/>
                        </a:rPr>
                        <a:t>0.0315</a:t>
                      </a:r>
                    </a:p>
                  </a:txBody>
                  <a:tcPr marL="152400" marR="152400" marT="152400" marB="152400"/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D38"/>
                          </a:solidFill>
                          <a:latin typeface="Calibri"/>
                          <a:ea typeface="Calibri"/>
                          <a:cs typeface="Calibri"/>
                        </a:rPr>
                        <a:t>0.8766</a:t>
                      </a:r>
                    </a:p>
                  </a:txBody>
                  <a:tcPr marL="152400" marR="152400" marT="152400" marB="152400"/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D38"/>
                          </a:solidFill>
                          <a:latin typeface="Calibri"/>
                          <a:ea typeface="Calibri"/>
                          <a:cs typeface="Calibri"/>
                        </a:rPr>
                        <a:t>0.7659</a:t>
                      </a:r>
                    </a:p>
                  </a:txBody>
                  <a:tcPr marL="152400" marR="152400" marT="152400" marB="15240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D38"/>
                          </a:solidFill>
                          <a:latin typeface="Calibri"/>
                          <a:ea typeface="Calibri"/>
                          <a:cs typeface="Calibri"/>
                        </a:rPr>
                        <a:t>Pitch</a:t>
                      </a:r>
                    </a:p>
                  </a:txBody>
                  <a:tcPr marL="152400" marR="152400" marT="152400" marB="152400"/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D38"/>
                          </a:solidFill>
                          <a:latin typeface="Calibri"/>
                          <a:ea typeface="Calibri"/>
                          <a:cs typeface="Calibri"/>
                        </a:rPr>
                        <a:t>0.0554</a:t>
                      </a:r>
                    </a:p>
                  </a:txBody>
                  <a:tcPr marL="152400" marR="152400" marT="152400" marB="152400"/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D38"/>
                          </a:solidFill>
                          <a:latin typeface="Calibri"/>
                          <a:ea typeface="Calibri"/>
                          <a:cs typeface="Calibri"/>
                        </a:rPr>
                        <a:t>0.0142</a:t>
                      </a:r>
                    </a:p>
                  </a:txBody>
                  <a:tcPr marL="152400" marR="152400" marT="152400" marB="152400"/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D38"/>
                          </a:solidFill>
                          <a:latin typeface="Calibri"/>
                          <a:ea typeface="Calibri"/>
                          <a:cs typeface="Calibri"/>
                        </a:rPr>
                        <a:t>0.9697</a:t>
                      </a:r>
                    </a:p>
                  </a:txBody>
                  <a:tcPr marL="152400" marR="152400" marT="152400" marB="152400"/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D38"/>
                          </a:solidFill>
                          <a:latin typeface="Calibri"/>
                          <a:ea typeface="Calibri"/>
                          <a:cs typeface="Calibri"/>
                        </a:rPr>
                        <a:t>0.9392</a:t>
                      </a:r>
                    </a:p>
                  </a:txBody>
                  <a:tcPr marL="152400" marR="152400" marT="152400" marB="15240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D38"/>
                          </a:solidFill>
                          <a:latin typeface="Calibri"/>
                          <a:ea typeface="Calibri"/>
                          <a:cs typeface="Calibri"/>
                        </a:rPr>
                        <a:t>Yaw</a:t>
                      </a:r>
                    </a:p>
                  </a:txBody>
                  <a:tcPr marL="152400" marR="152400" marT="152400" marB="152400"/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D38"/>
                          </a:solidFill>
                          <a:latin typeface="Calibri"/>
                          <a:ea typeface="Calibri"/>
                          <a:cs typeface="Calibri"/>
                        </a:rPr>
                        <a:t>0.1059</a:t>
                      </a:r>
                    </a:p>
                  </a:txBody>
                  <a:tcPr marL="152400" marR="152400" marT="152400" marB="152400"/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D38"/>
                          </a:solidFill>
                          <a:latin typeface="Calibri"/>
                          <a:ea typeface="Calibri"/>
                          <a:cs typeface="Calibri"/>
                        </a:rPr>
                        <a:t>0.0269</a:t>
                      </a:r>
                    </a:p>
                  </a:txBody>
                  <a:tcPr marL="152400" marR="152400" marT="152400" marB="152400"/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D38"/>
                          </a:solidFill>
                          <a:latin typeface="Calibri"/>
                          <a:ea typeface="Calibri"/>
                          <a:cs typeface="Calibri"/>
                        </a:rPr>
                        <a:t>0.8981</a:t>
                      </a:r>
                    </a:p>
                  </a:txBody>
                  <a:tcPr marL="152400" marR="152400" marT="152400" marB="152400"/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D38"/>
                          </a:solidFill>
                          <a:latin typeface="Calibri"/>
                          <a:ea typeface="Calibri"/>
                          <a:cs typeface="Calibri"/>
                        </a:rPr>
                        <a:t>0.7967</a:t>
                      </a:r>
                    </a:p>
                  </a:txBody>
                  <a:tcPr marL="152400" marR="152400" marT="152400" marB="15240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D6B6E7-3A07-4FCD-81C9-9641AE59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38775"/>
            <a:ext cx="11049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These results evaluate the exported predictions after gain and clipping. The original reported table evaluates smoothed predictions before calibration.</a:t>
            </a:r>
          </a:p>
        </p:txBody>
      </p:sp>
    </p:spTree>
    <p:extLst>
      <p:ext uri="{BB962C8B-B14F-4D97-AF65-F5344CB8AC3E}">
        <p14:creationId xmlns:p14="http://schemas.microsoft.com/office/powerpoint/2010/main" val="165919654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1D3EB-2DD6-4F9F-9182-424AE183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Residual Errors and Their Distribution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2FC3E0-6702-49BD-A5AE-1E5B8437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76F"/>
                </a:solidFill>
                <a:latin typeface="Calibri"/>
                <a:ea typeface="Calibri"/>
                <a:cs typeface="Calibri"/>
              </a:rPr>
              <a:t>Bachelor’s degree project  |  Continuous wrist kinematics using sEMG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4818B2-5E91-4501-90DE-6D00AED0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76F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DBF283-7B81-4A39-9861-CE26B9FEFB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a5161c60a74de2"/>
          <a:stretch xmlns:a="http://schemas.openxmlformats.org/drawingml/2006/main"/>
        </p:blipFill>
        <p:spPr>
          <a:xfrm xmlns:a="http://schemas.openxmlformats.org/drawingml/2006/main">
            <a:off x="2596158" y="1228725"/>
            <a:ext cx="6980634" cy="42957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50B393-AC76-4BBB-A55E-9698264C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86425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High overall correlation coexists with occasional large errors. Maximum absolute errors are 1.1960 for Roll, 1.0428 for Pitch, and 1.0137 for Yaw.</a:t>
            </a:r>
          </a:p>
        </p:txBody>
      </p:sp>
    </p:spTree>
    <p:extLst>
      <p:ext uri="{BB962C8B-B14F-4D97-AF65-F5344CB8AC3E}">
        <p14:creationId xmlns:p14="http://schemas.microsoft.com/office/powerpoint/2010/main" val="177263586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DCC887-AE40-4828-B8B7-474ED556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Amplitude Agreement Between Targets and Predictions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CE0E73-697C-4346-8F5B-2F871264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76F"/>
                </a:solidFill>
                <a:latin typeface="Calibri"/>
                <a:ea typeface="Calibri"/>
                <a:cs typeface="Calibri"/>
              </a:rPr>
              <a:t>Bachelor’s degree project  |  Continuous wrist kinematics using sEMG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A08166-8652-433D-B680-A1663290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76F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809207-708C-4545-98D1-A05194A85B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5add38a1b147cc"/>
          <a:stretch xmlns:a="http://schemas.openxmlformats.org/drawingml/2006/main"/>
        </p:blipFill>
        <p:spPr>
          <a:xfrm xmlns:a="http://schemas.openxmlformats.org/drawingml/2006/main">
            <a:off x="704850" y="1493044"/>
            <a:ext cx="10763250" cy="376713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F689B8-943E-4F9F-9F7F-8CCF0906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86425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The diagonal represents exact agreement. Dense near-zero clusters and clipping bands require interpretation alongside residual and activity-conditioned errors.</a:t>
            </a:r>
          </a:p>
        </p:txBody>
      </p:sp>
    </p:spTree>
    <p:extLst>
      <p:ext uri="{BB962C8B-B14F-4D97-AF65-F5344CB8AC3E}">
        <p14:creationId xmlns:p14="http://schemas.microsoft.com/office/powerpoint/2010/main" val="33647059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E141BF-CC9F-4EA9-8C81-8D4BBF68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Activity Conditioned Errors and the Zero 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14D78D-95CC-4B79-AC8C-F047005B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76F"/>
                </a:solidFill>
                <a:latin typeface="Calibri"/>
                <a:ea typeface="Calibri"/>
                <a:cs typeface="Calibri"/>
              </a:rPr>
              <a:t>Bachelor’s degree project  |  Continuous wrist kinematics using sEMG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859789-EC2D-46CB-88B2-DDCD8405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76F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99F9E0-B93E-4F2B-9D19-55A345CA47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a455949650440d"/>
          <a:stretch xmlns:a="http://schemas.openxmlformats.org/drawingml/2006/main"/>
        </p:blipFill>
        <p:spPr>
          <a:xfrm xmlns:a="http://schemas.openxmlformats.org/drawingml/2006/main">
            <a:off x="1313392" y="1228725"/>
            <a:ext cx="9546167" cy="42957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DFFB0-1BB3-4AAD-9C98-52EF780B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86425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Active means |target| &gt; 0.05 for each axis. Only 6.8–7.6% of observations are active by this definition; active-state error exceeds near-rest error.</a:t>
            </a:r>
          </a:p>
        </p:txBody>
      </p:sp>
    </p:spTree>
    <p:extLst>
      <p:ext uri="{BB962C8B-B14F-4D97-AF65-F5344CB8AC3E}">
        <p14:creationId xmlns:p14="http://schemas.microsoft.com/office/powerpoint/2010/main" val="200024168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B06272-AAB7-44DF-B705-E6FC7C46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Methodological Findings and Evaluation Independence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CC7AF3-2A37-4AE1-8A5A-22EF37E0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76F"/>
                </a:solidFill>
                <a:latin typeface="Calibri"/>
                <a:ea typeface="Calibri"/>
                <a:cs typeface="Calibri"/>
              </a:rPr>
              <a:t>Bachelor’s degree project  |  Continuous wrist kinematics using sEMG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C19D02-C37B-47B8-A094-8F5016BA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76F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BB3CC-A413-475A-9A1B-A57A797D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Targets and causality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49E3CB-FA40-4E23-9F88-382C2963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5286375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Movement-code smoothing defines the targets. Physical angle accuracy has not been established.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Forward-backward filtering and centered Gaussian smoothing require future samples and therefore describe offline processing.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82FB01-FA02-41D2-A50F-E22AB382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90650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Validation and provenance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97DE9D-B440-4E4D-BA4C-BDDA8A3D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7850"/>
            <a:ext cx="5286375" cy="354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The test arrays are also used for model selection. Independent validation and final testing are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The archived training-window count and batch count are inconsistent at the current batch size. Stored outputs cannot certify one consistent current-code run.</a:t>
            </a:r>
          </a:p>
        </p:txBody>
      </p:sp>
    </p:spTree>
    <p:extLst>
      <p:ext uri="{BB962C8B-B14F-4D97-AF65-F5344CB8AC3E}">
        <p14:creationId xmlns:p14="http://schemas.microsoft.com/office/powerpoint/2010/main" val="80884522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365750-8CA3-45AE-9C21-E8B61BB0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Reproducibility Checks and the Next Research Experiments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8F17C3-C980-489A-B7EE-46F59A7A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76F"/>
                </a:solidFill>
                <a:latin typeface="Calibri"/>
                <a:ea typeface="Calibri"/>
                <a:cs typeface="Calibri"/>
              </a:rPr>
              <a:t>Bachelor’s degree project  |  Continuous wrist kinematics using sEMG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0D7307-C82B-4A72-B927-D660FD9C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76F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DC41A8-42FC-4943-91A2-4A4BEFEE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519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Completed checks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E8123F-EF8F-46F9-AAA6-0F54C747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5191125" cy="3019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13 regression and diagnostic tests passed.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Synthetic-recording preprocessing matches the source operations exactly.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The model, arrays, and video retain their source checksums.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E3A7CF-D155-4600-9245-1093D58B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52550"/>
            <a:ext cx="519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Proposed experiments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BD585F-6181-4EE3-8B5F-A41FA8F6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5191125" cy="397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Isolate training, validation, and final test repetitions.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Use synchronized measured kinematic targets.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Compare architecture and postprocessing choices under identical partitions.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Measure causal streaming delay and functional control performance.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58A3B2-8EA5-4AF7-88C5-DB35694A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483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The proposed experiments have not been performed on the missing raw dataset.</a:t>
            </a:r>
          </a:p>
        </p:txBody>
      </p:sp>
    </p:spTree>
    <p:extLst>
      <p:ext uri="{BB962C8B-B14F-4D97-AF65-F5344CB8AC3E}">
        <p14:creationId xmlns:p14="http://schemas.microsoft.com/office/powerpoint/2010/main" val="51358917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5A4188-553B-4069-A0C3-F459782D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0CFDB4-17BE-4B81-A157-AAEA2BF4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76F"/>
                </a:solidFill>
                <a:latin typeface="Calibri"/>
                <a:ea typeface="Calibri"/>
                <a:cs typeface="Calibri"/>
              </a:rPr>
              <a:t>Bachelor’s degree project  |  Continuous wrist kinematics using sEMG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2375CA-3192-4381-AE57-38092120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6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76F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1A6012-86CF-4623-BE6D-EF913F5C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[1] M. Atzori, A. Gijsberts, I. Kuzborskij, S. Elsig, A.-G. M. Hager, O. Deriaz, C. Castellini, H. Müller, and B. Caputo, "Characterization of a Benchmark Database for Myoelectric Movement Classification," IEEE Transactions on Neural Systems and Rehabilitation Engineering, vol. 23, no. 1, pp. 73–83, 2015.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CCA868-FE5B-4690-81F5-DE86AF5D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[2] A. Gijsberts, M. Atzori, C. Castellini, H. Müller, and B. Caputo, "Movement Error Rate for Evaluation of Machine Learning Methods for sEMG-Based Hand Movement Classification," IEEE Transactions on Neural Systems and Rehabilitation Engineering, vol. 22, no. 4, pp. 735–744, 2014.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B4746C-3890-4AAC-A849-AFF67D06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289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[3] T. Bao, S. A. R. Zaidi, S. Xie, P. Yang, and Z. Zhang, "A CNN-LSTM Hybrid Framework for Wrist Kinematics Estimation Using Surface Electromyography," arXiv preprint arXiv:1912.00799, 2019.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758984-1D2B-438D-A5D1-C5212D01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43275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[4] F. Quivira, T. Koike-Akino, Y. Wang, and D. Erdogmus, "Translating sEMG Signals to Continuous Hand Poses Using Recurrent Neural Networks," in Proc. IEEE EMBS International Conference on Biomedical &amp; Health Informatics (BHI), 2018, pp. 166–169.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A57113-1E30-4386-A4C5-E9FBF623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[5] J. Du, Z. Liu, W. Dong, W. Zhang, and Z. Miao, "A Novel TCN-LSTM Hybrid Model for sEMG-Based Continuous Estimation of Wrist Joint Angles," Sensors, vol. 24, no. 17, p. 5631, 2024.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B38828-96C4-4950-925D-3E0E893C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72025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[6] A. Ameri, M. A. Akhaee, E. Scheme, and K. Englehart, "Regression Convolutional Neural Network for Improved Simultaneous EMG Control," Journal of Neural Engineering, vol. 16, no. 3, 036015, 2019.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9FD4E5-181F-479B-A1DD-18F1CA86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2D38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2D38"/>
                </a:solidFill>
                <a:latin typeface="Calibri"/>
                <a:ea typeface="Calibri"/>
                <a:cs typeface="Calibri"/>
              </a:rPr>
              <a:t>[7] M. Atzori, M. Cognolato, and H. Müller, "Deep Learning with Convolutional Neural Networks Applied to Electromyography Data: A Resource for the Classification of Movements for Prosthetic Hands," Frontiers in Neurorobotics, vol. 10, p. 9, 2016.</a:t>
            </a:r>
          </a:p>
        </p:txBody>
      </p:sp>
    </p:spTree>
    <p:extLst>
      <p:ext uri="{BB962C8B-B14F-4D97-AF65-F5344CB8AC3E}">
        <p14:creationId xmlns:p14="http://schemas.microsoft.com/office/powerpoint/2010/main" val="19375469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2026-10-12T19:46:02.2810000Z</dcterms:created>
  <dcterms:modified xsi:type="dcterms:W3CDTF">2026-10-12T19:46:02.2810000Z</dcterms:modified>
</coreProperties>
</file>